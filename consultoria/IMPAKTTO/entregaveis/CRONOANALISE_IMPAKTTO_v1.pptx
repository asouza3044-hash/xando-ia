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Peças produzidas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Cleiton</c:v>
                  </c:pt>
                  <c:pt idx="1">
                    <c:v>Operador ilegível</c:v>
                  </c:pt>
                  <c:pt idx="2">
                    <c:v>Wendell</c:v>
                  </c:pt>
                  <c:pt idx="3">
                    <c:v>Vanildo</c:v>
                  </c:pt>
                  <c:pt idx="4">
                    <c:v>Danilo</c:v>
                  </c:pt>
                  <c:pt idx="5">
                    <c:v>Vita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183</c:v>
                </c:pt>
                <c:pt idx="1">
                  <c:v>148</c:v>
                </c:pt>
                <c:pt idx="2">
                  <c:v>65</c:v>
                </c:pt>
                <c:pt idx="3">
                  <c:v>61</c:v>
                </c:pt>
                <c:pt idx="4">
                  <c:v>24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85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bubble3D val="0"/>
            <c:spPr>
              <a:solidFill>
                <a:srgbClr val="E87722"/>
              </a:solidFill>
              <a:effectLst/>
            </c:spPr>
          </c:dPt>
          <c:dPt>
            <c:idx val="2"/>
            <c:bubble3D val="0"/>
            <c:spPr>
              <a:solidFill>
                <a:srgbClr val="2E933C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7DA0C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31552</c:v>
                </c:pt>
                <c:pt idx="1">
                  <c:v>30809</c:v>
                </c:pt>
                <c:pt idx="2">
                  <c:v>31553</c:v>
                </c:pt>
                <c:pt idx="3">
                  <c:v>teste</c:v>
                </c:pt>
                <c:pt idx="4">
                  <c:v>31652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216</c:v>
                </c:pt>
                <c:pt idx="1">
                  <c:v>184</c:v>
                </c:pt>
                <c:pt idx="2">
                  <c:v>55</c:v>
                </c:pt>
                <c:pt idx="3">
                  <c:v>37</c:v>
                </c:pt>
                <c:pt idx="4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C4858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Produzido</c:v>
                </c:pt>
              </c:strCache>
            </c:strRef>
          </c:tx>
          <c:spPr>
            <a:solidFill>
              <a:srgbClr val="2E9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48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31552</c:v>
                  </c:pt>
                  <c:pt idx="1">
                    <c:v>30809</c:v>
                  </c:pt>
                  <c:pt idx="2">
                    <c:v>31553</c:v>
                  </c:pt>
                  <c:pt idx="3">
                    <c:v>31652</c:v>
                  </c:pt>
                  <c:pt idx="4">
                    <c:v>teste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</c:v>
                </c:pt>
                <c:pt idx="1">
                  <c:v>184</c:v>
                </c:pt>
                <c:pt idx="2">
                  <c:v>55</c:v>
                </c:pt>
                <c:pt idx="3">
                  <c:v>5</c:v>
                </c:pt>
                <c:pt idx="4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Pedido</c:v>
                </c:pt>
              </c:strCache>
            </c:strRef>
          </c:tx>
          <c:spPr>
            <a:solidFill>
              <a:srgbClr val="7DA0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485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31552</c:v>
                  </c:pt>
                  <c:pt idx="1">
                    <c:v>30809</c:v>
                  </c:pt>
                  <c:pt idx="2">
                    <c:v>31553</c:v>
                  </c:pt>
                  <c:pt idx="3">
                    <c:v>31652</c:v>
                  </c:pt>
                  <c:pt idx="4">
                    <c:v>teste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1420</c:v>
                </c:pt>
                <c:pt idx="1">
                  <c:v>660</c:v>
                </c:pt>
                <c:pt idx="2">
                  <c:v>165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C485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8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Peças/dia</c:v>
                </c:pt>
              </c:strCache>
            </c:strRef>
          </c:tx>
          <c:spPr>
            <a:solidFill>
              <a:srgbClr val="1F3A5F"/>
            </a:solidFill>
            <a:ln w="381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06/04</c:v>
                  </c:pt>
                  <c:pt idx="1">
                    <c:v>07/04</c:v>
                  </c:pt>
                  <c:pt idx="2">
                    <c:v>08/04</c:v>
                  </c:pt>
                  <c:pt idx="3">
                    <c:v>09/04</c:v>
                  </c:pt>
                  <c:pt idx="4">
                    <c:v>10/04</c:v>
                  </c:pt>
                  <c:pt idx="5">
                    <c:v>11/04</c:v>
                  </c:pt>
                  <c:pt idx="6">
                    <c:v>13/04</c:v>
                  </c:pt>
                  <c:pt idx="7">
                    <c:v>15/04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134</c:v>
                </c:pt>
                <c:pt idx="1">
                  <c:v>73</c:v>
                </c:pt>
                <c:pt idx="2">
                  <c:v>47</c:v>
                </c:pt>
                <c:pt idx="3">
                  <c:v>58</c:v>
                </c:pt>
                <c:pt idx="4">
                  <c:v>54</c:v>
                </c:pt>
                <c:pt idx="5">
                  <c:v>16</c:v>
                </c:pt>
                <c:pt idx="6">
                  <c:v>23</c:v>
                </c:pt>
                <c:pt idx="7">
                  <c:v>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3A5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Ocorrências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P07</c:v>
                  </c:pt>
                  <c:pt idx="1">
                    <c:v>???</c:v>
                  </c:pt>
                  <c:pt idx="2">
                    <c:v>P01</c:v>
                  </c:pt>
                  <c:pt idx="3">
                    <c:v>P11</c:v>
                  </c:pt>
                  <c:pt idx="4">
                    <c:v>P16</c:v>
                  </c:pt>
                  <c:pt idx="5">
                    <c:v>87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3A5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% Acumulado</c:v>
                </c:pt>
              </c:strCache>
            </c:strRef>
          </c:tx>
          <c:spPr>
            <a:solidFill>
              <a:srgbClr val="E87722"/>
            </a:solidFill>
            <a:ln w="38100" cap="flat">
              <a:solidFill>
                <a:srgbClr val="E87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3A5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7722"/>
              </a:solidFill>
              <a:ln w="9525" cap="flat">
                <a:solidFill>
                  <a:srgbClr val="E87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P07</c:v>
                  </c:pt>
                  <c:pt idx="1">
                    <c:v>???</c:v>
                  </c:pt>
                  <c:pt idx="2">
                    <c:v>P01</c:v>
                  </c:pt>
                  <c:pt idx="3">
                    <c:v>P11</c:v>
                  </c:pt>
                  <c:pt idx="4">
                    <c:v>P16</c:v>
                  </c:pt>
                  <c:pt idx="5">
                    <c:v>87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72</c:v>
                </c:pt>
                <c:pt idx="2">
                  <c:v>83</c:v>
                </c:pt>
                <c:pt idx="3">
                  <c:v>89</c:v>
                </c:pt>
                <c:pt idx="4">
                  <c:v>94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3A5F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F3A5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F3A5F"/>
                    </a:solidFill>
                    <a:latin typeface="Arial"/>
                  </a:rPr>
                  <a:t>Ocorrências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E8772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E87722"/>
                    </a:solidFill>
                    <a:latin typeface="Arial"/>
                  </a:rPr>
                  <a:t>% Acumulado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7722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8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DE PRODUTIVIDADE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CRONOANÁLISE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IMPAKTTO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Usinagem CNC · 1ª foto-teste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36576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OBSERVADO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
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06/04/2026 a 15/04/2026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APONTAMENTOS OBSERVADOS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OPs · 497 peças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OPs observadas · 497 peças produzidas · 14 paradas registradas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INDICADORES-CHAVE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executiva da produção observada · 06/04/2026 a 15/04/2026 · cliente MATRO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91440" cy="2011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REGISTRADAS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ordens de produção observadas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554480"/>
            <a:ext cx="91440" cy="20116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PEÇAS PRODUZIDAS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497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6118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 da QTD_PROD no período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554480"/>
            <a:ext cx="91440" cy="2011680"/>
          </a:xfrm>
          <a:prstGeom prst="rect">
            <a:avLst/>
          </a:prstGeom>
          <a:solidFill>
            <a:srgbClr val="2E9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ATENDIDO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19,9%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497 produzidas / 2.495 pedidas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554480"/>
            <a:ext cx="91440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PARADAS REGISTRADAS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8116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92811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ocorrências de COD_PARADA preenchido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11155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886200"/>
            <a:ext cx="91440" cy="2331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041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EXECUTIVA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4348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Amostra observada: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18 apontamentos no período 06/04/2026 a 15/04/2026.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de atendimento (19,9%):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497 peças produzidas contra 2.495 pedidas — investigar mix de OPs e capacidade no período.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paradas registradas: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50% concentradas em P07 (Almoço).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operador: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Cleiton com 183 peças (36,8% do total).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DE OPERADORES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Quantidade produzida por operador · ordem decrescente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417320"/>
            <a:ext cx="3977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26680" y="1417320"/>
            <a:ext cx="91440" cy="48463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DESTAQUES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Cleiton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 peças (36,8% do total)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0" y="2834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 ilegível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 peças (29,8%) — apontamentos sem operador legível na captura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operadores mapeados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com leitura comprometida — confirmar lista oficial com cliente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4846320"/>
            <a:ext cx="36576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4983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AÇÃO IMEDIATA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Capturar nova foto em melhor resolução para resgatar os 148 pcs do operador ilegível.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 DE PRODUÇÃO POR PEÇA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de QTD_PROD por número da peça (ID_OP)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5943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Peça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Mix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43,5%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77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37,0%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3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100,0%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0" y="4754880"/>
            <a:ext cx="4846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4754880"/>
            <a:ext cx="91440" cy="1417320"/>
          </a:xfrm>
          <a:prstGeom prst="rect">
            <a:avLst/>
          </a:prstGeom>
          <a:solidFill>
            <a:srgbClr val="2E933C"/>
          </a:solidFill>
          <a:ln/>
        </p:spPr>
      </p:sp>
      <p:sp>
        <p:nvSpPr>
          <p:cNvPr id="11" name="Text 7"/>
          <p:cNvSpPr/>
          <p:nvPr/>
        </p:nvSpPr>
        <p:spPr>
          <a:xfrm>
            <a:off x="7086600" y="48463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200" kern="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CONCENTRAÇÃO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peças (31552 e 30809)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respondem por 80,5% da produção do período. Priorizar cronometragem dessas peças para o tempo-padrão.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 POR PEÇA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Produzido x Pedido por número da peça · quão longe da meta cada peça está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417320"/>
          <a:ext cx="3977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6012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Peça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Met.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27,9%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7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33,3%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77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37,0%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726680" y="452628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26680" y="4526280"/>
            <a:ext cx="91440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7"/>
          <p:cNvSpPr/>
          <p:nvPr/>
        </p:nvSpPr>
        <p:spPr>
          <a:xfrm>
            <a:off x="7955280" y="46634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 MAIS CRÍTICA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31652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 de apenas 3,3%: 5 de 150 pedidas.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de 145 peças no período.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OPERADOR × PEÇA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Quantidade produzida em cada cruzamento · identifica especialização e gargalos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08760"/>
          <a:ext cx="10058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16736"/>
                <a:gridCol w="1316736"/>
                <a:gridCol w="1316736"/>
                <a:gridCol w="1316736"/>
                <a:gridCol w="1316736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Operador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Ilegível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Vanildo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Danilo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Intensidade de cor proporcional ao volume produzido no cruzamento: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5212080"/>
            <a:ext cx="274320" cy="2286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 19 pcs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5212080"/>
            <a:ext cx="274320" cy="228600"/>
          </a:xfrm>
          <a:prstGeom prst="rect">
            <a:avLst/>
          </a:prstGeom>
          <a:solidFill>
            <a:srgbClr val="E2EBC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a 49 pcs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5212080"/>
            <a:ext cx="274320" cy="228600"/>
          </a:xfrm>
          <a:prstGeom prst="rect">
            <a:avLst/>
          </a:prstGeom>
          <a:solidFill>
            <a:srgbClr val="BBE0B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pcs ou mais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LEITURA: </a:t>
            </a:r>
            <a:pPr indent="0" marL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Cleiton concentra-se na peça 31552; 5 peças e 6 operadores observados. Use a matriz para reatribuir cargas e equilibrar treinamento.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TENDÊNCIA DIÁRIA DE PRODUÇÃO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Quantidade de peças produzidas por dia no período observado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366760" y="1417320"/>
            <a:ext cx="3337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66760" y="1417320"/>
            <a:ext cx="91440" cy="4846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TEMPORAL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000" dirty="0"/>
          </a:p>
          <a:p>
            <a:pPr indent="0" marL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com produção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59536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peças/dia (média)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95360" y="3931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 DIA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06/04: 134 peças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PIOR DIA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11/04: 16 peças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PARETO DE PARADAS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Frequência por código de parada com descrições oficiais do formulário (14 registros)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366760" y="1417320"/>
            <a:ext cx="3337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66760" y="1417320"/>
            <a:ext cx="91440" cy="4846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DETALHADOS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1920240"/>
            <a:ext cx="3017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P07 — Almoço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ocorr. (50%) · acum. 50%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??? — Sem descrição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ocorr. (22%) · acum. 72%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P01 — Falta de Energia Elétrica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ocorr. (11%) · acum. 83%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P11 — Alarme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ocorr. (6%) · acum. 89%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P16 — Outras Horas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ocorr. (6%) · acum. 94%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 — Sem descrição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ocorr. (6%) · acum. 100%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DETALHE DAS 18 ORDENS DE PRODUÇÃO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Apontamentos importados e consolidados · campos limpos para apresentação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463040"/>
                <a:gridCol w="1554480"/>
                <a:gridCol w="1463040"/>
                <a:gridCol w="2377440"/>
                <a:gridCol w="2011680"/>
              </a:tblGrid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Peça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Qtd Prod.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Qtd Ped.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Operador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Parada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Vanildo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Danilo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 [?]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8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Vanildo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Notas: </a:t>
            </a:r>
            <a:pPr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(1) '—' = leitura comprometida na foto. </a:t>
            </a:r>
            <a:pPr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(2) Linhas em destaque laranja são OPs fora do cliente principal. </a:t>
            </a:r>
            <a:pPr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(3) '[?]' em códigos de parada = sem correspondência na legenda do formulário.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DA 1ª COLETA +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Transparência sobre o que ficou pendente e plano de 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548640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DESTA COLETA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Análises bloqueadas pela ausência de dados no formulário: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Coluna MÁQUINA não preenchida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 em branco no formulário em 100% dos apontamentos. Bloqueia análises Máquina × Operador, Máquina × Peça e produtividade por equipamento.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real de parada (T_PARADA_MIN) ausente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códigos de parada estão registrados, mas a duração não. Impede calcular tempo perdido em cada categoria.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Tempo-padrão (TP) ainda não definido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o TP é impossível calcular eficiência real (produção esperada vs realizada). Requer cronometragem de campo.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operadores ilegíveis (148 peças)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29,8% da produção atribuída a 'Operador ilegível' — perde-se ranqueamento e responsabilização individual.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417320"/>
            <a:ext cx="5440680" cy="91440"/>
          </a:xfrm>
          <a:prstGeom prst="rect">
            <a:avLst/>
          </a:prstGeom>
          <a:solidFill>
            <a:srgbClr val="2E9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destrava as análises na 2ª coleta: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CURTO PRAZO (1-2 sem) 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Preencher MÁQUINA em todos os formulários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Padronizar campo OPERADOR (letra legível)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Anotar tempo de cada parada (col. PARADA)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MÉDIO PRAZO (3-4 sem) 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Cronometrar 5-8 ciclos das peças 31552 e 30809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Definir tempo-padrão por peça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Atacar causa-raiz de P07 (Almoço)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LONGO PRAZO (1-3 meses)  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Calcular produtividade Operador × Máquina × Peça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Migrar relatório para Power BI (já preparado)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Treinar equipe no preenchimento padronizado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transformar dados em decisões na fábrica.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36576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31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PREPARADA POR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Alexandre Souza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Consultor em cronoanálise e produtividade industrial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CONTATO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a.souza3044@gmail.com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Cronoanalise IMPAKTTO</dc:title>
  <dc:subject>PptxGenJS Presentation</dc:subject>
  <dc:creator>Alexandre Souza</dc:creator>
  <cp:lastModifiedBy>Alexandre Souza</cp:lastModifiedBy>
  <cp:revision>1</cp:revision>
  <dcterms:created xsi:type="dcterms:W3CDTF">2026-05-12T13:39:37Z</dcterms:created>
  <dcterms:modified xsi:type="dcterms:W3CDTF">2026-05-12T13:39:37Z</dcterms:modified>
</cp:coreProperties>
</file>