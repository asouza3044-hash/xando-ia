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Peças produzidas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Cleiton</c:v>
                </c:pt>
                <c:pt idx="1">
                  <c:v>Operador ilegível</c:v>
                </c:pt>
                <c:pt idx="2">
                  <c:v>Wendell</c:v>
                </c:pt>
                <c:pt idx="3">
                  <c:v>Vanildo</c:v>
                </c:pt>
                <c:pt idx="4">
                  <c:v>Danilo</c:v>
                </c:pt>
                <c:pt idx="5">
                  <c:v>Vita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183</c:v>
                </c:pt>
                <c:pt idx="1">
                  <c:v>148</c:v>
                </c:pt>
                <c:pt idx="2">
                  <c:v>65</c:v>
                </c:pt>
                <c:pt idx="3">
                  <c:v>61</c:v>
                </c:pt>
                <c:pt idx="4">
                  <c:v>24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84-4296-AB40-AE409A587D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85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7D4-4AC0-A709-6875A710034E}"/>
              </c:ext>
            </c:extLst>
          </c:dPt>
          <c:dPt>
            <c:idx val="1"/>
            <c:bubble3D val="0"/>
            <c:spPr>
              <a:solidFill>
                <a:srgbClr val="E877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D4-4AC0-A709-6875A710034E}"/>
              </c:ext>
            </c:extLst>
          </c:dPt>
          <c:dPt>
            <c:idx val="2"/>
            <c:bubble3D val="0"/>
            <c:spPr>
              <a:solidFill>
                <a:srgbClr val="2E93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D4-4AC0-A709-6875A710034E}"/>
              </c:ext>
            </c:extLst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7D4-4AC0-A709-6875A710034E}"/>
              </c:ext>
            </c:extLst>
          </c:dPt>
          <c:dPt>
            <c:idx val="4"/>
            <c:bubble3D val="0"/>
            <c:spPr>
              <a:solidFill>
                <a:srgbClr val="7DA0C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7D4-4AC0-A709-6875A710034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7D4-4AC0-A709-6875A710034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7D4-4AC0-A709-6875A710034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7D4-4AC0-A709-6875A710034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7D4-4AC0-A709-6875A710034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7D4-4AC0-A709-6875A710034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31552</c:v>
                </c:pt>
                <c:pt idx="1">
                  <c:v>30809</c:v>
                </c:pt>
                <c:pt idx="2">
                  <c:v>31553</c:v>
                </c:pt>
                <c:pt idx="3">
                  <c:v>teste</c:v>
                </c:pt>
                <c:pt idx="4">
                  <c:v>31652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</c:v>
                </c:pt>
                <c:pt idx="1">
                  <c:v>184</c:v>
                </c:pt>
                <c:pt idx="2">
                  <c:v>55</c:v>
                </c:pt>
                <c:pt idx="3">
                  <c:v>37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7D4-4AC0-A709-6875A7100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C4858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Produzido</c:v>
                </c:pt>
              </c:strCache>
            </c:strRef>
          </c:tx>
          <c:spPr>
            <a:solidFill>
              <a:srgbClr val="2E93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C48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31552</c:v>
                </c:pt>
                <c:pt idx="1">
                  <c:v>30809</c:v>
                </c:pt>
                <c:pt idx="2">
                  <c:v>31553</c:v>
                </c:pt>
                <c:pt idx="3">
                  <c:v>31652</c:v>
                </c:pt>
                <c:pt idx="4">
                  <c:v>teste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</c:v>
                </c:pt>
                <c:pt idx="1">
                  <c:v>184</c:v>
                </c:pt>
                <c:pt idx="2">
                  <c:v>55</c:v>
                </c:pt>
                <c:pt idx="3">
                  <c:v>5</c:v>
                </c:pt>
                <c:pt idx="4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0-4B0A-887F-554916295F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Pedido</c:v>
                </c:pt>
              </c:strCache>
            </c:strRef>
          </c:tx>
          <c:spPr>
            <a:solidFill>
              <a:srgbClr val="7DA0C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C4858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31552</c:v>
                </c:pt>
                <c:pt idx="1">
                  <c:v>30809</c:v>
                </c:pt>
                <c:pt idx="2">
                  <c:v>31553</c:v>
                </c:pt>
                <c:pt idx="3">
                  <c:v>31652</c:v>
                </c:pt>
                <c:pt idx="4">
                  <c:v>teste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1420</c:v>
                </c:pt>
                <c:pt idx="1">
                  <c:v>660</c:v>
                </c:pt>
                <c:pt idx="2">
                  <c:v>165</c:v>
                </c:pt>
                <c:pt idx="3">
                  <c:v>150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0-4B0A-887F-554916295F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85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Peças/dia</c:v>
                </c:pt>
              </c:strCache>
            </c:strRef>
          </c:tx>
          <c:spPr>
            <a:ln w="38100" cap="flat">
              <a:solidFill>
                <a:srgbClr val="1F3A5F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F3A5F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06/04</c:v>
                </c:pt>
                <c:pt idx="1">
                  <c:v>07/04</c:v>
                </c:pt>
                <c:pt idx="2">
                  <c:v>08/04</c:v>
                </c:pt>
                <c:pt idx="3">
                  <c:v>09/04</c:v>
                </c:pt>
                <c:pt idx="4">
                  <c:v>10/04</c:v>
                </c:pt>
                <c:pt idx="5">
                  <c:v>11/04</c:v>
                </c:pt>
                <c:pt idx="6">
                  <c:v>13/04</c:v>
                </c:pt>
                <c:pt idx="7">
                  <c:v>15/04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134</c:v>
                </c:pt>
                <c:pt idx="1">
                  <c:v>73</c:v>
                </c:pt>
                <c:pt idx="2">
                  <c:v>47</c:v>
                </c:pt>
                <c:pt idx="3">
                  <c:v>58</c:v>
                </c:pt>
                <c:pt idx="4">
                  <c:v>54</c:v>
                </c:pt>
                <c:pt idx="5">
                  <c:v>16</c:v>
                </c:pt>
                <c:pt idx="6">
                  <c:v>23</c:v>
                </c:pt>
                <c:pt idx="7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B-4C9D-9C61-11EA49D5ED0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C48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3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DIAGNÓSTICO DE PRODUTIVIDADE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CRONOANÁLISE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IMPAKTTO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Usinagem CNC · 1ª foto-teste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3657600" cy="36576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 OBSERVADO
</a:t>
            </a: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50292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
</a:t>
            </a: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06/04/2026 a 15/04/2026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APONTAMENTOS OBSERVADOS
</a:t>
            </a: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OPs · 497 peças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OPs observadas · 497 peças produzidas · 14 paradas registradas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INDICADORES-CHAVE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executiva da produção observada · 06/04/2026 a 15/04/2026 · </a:t>
            </a:r>
            <a:r>
              <a:rPr lang="en-US" sz="1200" i="1" dirty="0" err="1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91440" cy="201168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 REGISTRADAS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ordens de produção observadas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91440" cy="201168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118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PEÇAS PRODUZIDAS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497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361188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 da QTD_PROD no período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91440" cy="2011680"/>
          </a:xfrm>
          <a:prstGeom prst="rect">
            <a:avLst/>
          </a:prstGeom>
          <a:solidFill>
            <a:srgbClr val="2E93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465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ATENDIDO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19,9%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497 produzidas / 2.495 pedidas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55448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052560" y="1554480"/>
            <a:ext cx="91440" cy="2011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2811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PARADAS REGISTRADAS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81160" y="21488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928116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ocorrências de COD_PARADA preenchido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11155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91440" cy="233172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77240" y="40416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EXECUTIVA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4348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Amostra observada:</a:t>
            </a: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18 apontamentos no período 06/04/2026 a 15/04/2026.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de atendimento (19,9%):</a:t>
            </a: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497 peças produzidas contra 2.495 pedidas — investigar mix de OPs e capacidade no período.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paradas registradas:</a:t>
            </a: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50% concentradas em P07 (Almoço).</a:t>
            </a:r>
            <a:endParaRPr lang="en-US" sz="11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operador:</a:t>
            </a:r>
            <a:r>
              <a:rPr lang="en-US" sz="115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Cleiton com 183 peças (36,8% do total).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DE OPERADORES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Quantidade produzida por operador · ordem decrescente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1732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417320"/>
            <a:ext cx="3977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7726680" y="1417320"/>
            <a:ext cx="91440" cy="484632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955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DESTAQUES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5528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Cleiton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 peças (36,8% do total)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0" y="2834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 ilegível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 peças (29,8%) — apontamentos sem operador legível na captura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operadores mapeados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com leitura comprometida — confirmar lista oficial com cliente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4846320"/>
            <a:ext cx="365760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955280" y="4983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20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AÇÃO IMEDIATA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Capturar nova foto em melhor resolução para resgatar os 148 pcs do operador ilegível.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 DE PRODUÇÃO POR PEÇA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Distribuição de QTD_PROD por número da peça (ID_OP)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17320"/>
          <a:ext cx="59436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91640"/>
          <a:ext cx="4846320" cy="26883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Peça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Mix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43,5%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77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37,0%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93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100,0%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858000" y="4754880"/>
            <a:ext cx="4846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6858000" y="4754880"/>
            <a:ext cx="91440" cy="1417320"/>
          </a:xfrm>
          <a:prstGeom prst="rect">
            <a:avLst/>
          </a:prstGeom>
          <a:solidFill>
            <a:srgbClr val="2E93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7086600" y="48463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b="1" kern="0" spc="20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CONCENTRAÇÃO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peças (31552 e 30809)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respondem por 80,5% da produção do período. Priorizar cronometragem dessas peças para o tempo-padrão.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 POR PEÇA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Produzido x Pedido por número da peça · quão longe da meta cada peça está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1732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417320"/>
          <a:ext cx="3977640" cy="2194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Peça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Met.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15,2%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27,9%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77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33,3%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3,3%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772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37,0%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726680" y="4526280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7726680" y="4526280"/>
            <a:ext cx="91440" cy="1691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7955280" y="466344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kern="0" spc="20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 MAIS CRÍTICA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31652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Atendimento de apenas 3,3%: 5 de 150 pedidas.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de 145 peças no período.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OPERADOR × PEÇA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Quantidade produzida em cada cruzamento · identifica especialização e gargalos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08760"/>
          <a:ext cx="1005840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Operador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Ilegível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B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Vanildo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Danilo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4846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Intensidade de cor proporcional ao volume produzido no cruzamento: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5212080"/>
            <a:ext cx="274320" cy="228600"/>
          </a:xfrm>
          <a:prstGeom prst="rect">
            <a:avLst/>
          </a:prstGeom>
          <a:solidFill>
            <a:srgbClr val="F5F7FA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28016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a 19 pcs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5212080"/>
            <a:ext cx="274320" cy="228600"/>
          </a:xfrm>
          <a:prstGeom prst="rect">
            <a:avLst/>
          </a:prstGeom>
          <a:solidFill>
            <a:srgbClr val="E2EBC8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56616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a 49 pcs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5212080"/>
            <a:ext cx="274320" cy="228600"/>
          </a:xfrm>
          <a:prstGeom prst="rect">
            <a:avLst/>
          </a:prstGeom>
          <a:solidFill>
            <a:srgbClr val="BBE0B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5852160" y="5212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pcs ou mais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LEITURA: </a:t>
            </a:r>
            <a:r>
              <a:rPr lang="en-US" sz="11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Cleiton concentra-se na peça 31552; 5 peças e 6 operadores observados. Use a matriz para reatribuir cargas e equilibrar treinamento.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TENDÊNCIA DIÁRIA DE PRODUÇÃO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Quantidade de peças produzidas por dia no período observado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41732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366760" y="1417320"/>
            <a:ext cx="3337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8366760" y="1417320"/>
            <a:ext cx="91440" cy="484632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595360" y="1600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RESUMO TEMPORAL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3000" dirty="0"/>
          </a:p>
          <a:p>
            <a:pPr marL="0" indent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dias com produção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59536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2600" dirty="0"/>
          </a:p>
          <a:p>
            <a:pPr marL="0" indent="0"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peças/dia (média)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595360" y="3931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 DIA  </a:t>
            </a: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06/04: 134 peças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00" b="1" kern="0" spc="10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PIOR DIA  </a:t>
            </a: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11/04: 16 peças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DETALHE DAS 18 ORDENS DE PRODUÇÃO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Apontamentos importados e consolidados · campos limpos para apresentação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241547"/>
              </p:ext>
            </p:extLst>
          </p:nvPr>
        </p:nvGraphicFramePr>
        <p:xfrm>
          <a:off x="548640" y="1417320"/>
          <a:ext cx="11155680" cy="448858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Peça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Qtd Prod.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Qtd Ped.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Operador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Parada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30809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31652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Vanildo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Danilo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 [?]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92400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Wendell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Cleiton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58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15/04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MATÃO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31553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F3A5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Vanildo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C485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P07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978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Notas: </a:t>
            </a: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(1) '—' = leitura comprometida na foto. </a:t>
            </a:r>
            <a:r>
              <a:rPr lang="en-US" sz="900" i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(2) Linhas em destaque laranja são OPs fora do cliente principal. </a:t>
            </a: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(3) '[?]' em códigos de parada = sem correspondência na legenda do formulário.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DA 1ª COLETA +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Transparência sobre o que ficou pendente e plano de 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84280" y="411480"/>
            <a:ext cx="320040" cy="32004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6492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Período observado: 06/04/2026 a 15/04/2026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86400" cy="91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LIMITAÇÕES DESTA COLETA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Análises bloqueadas pela ausência de dados no formulário: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Coluna MÁQUINA não preenchida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 em branco no formulário em 100% dos apontamentos. Bloqueia análises Máquina × Operador, Máquina × Peça e produtividade por equipamento.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real de parada (T_PARADA_MIN) ausente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códigos de parada estão registrados, mas a duração não. Impede calcular tempo perdido em cada categoria.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Tempo-padrão (TP) ainda não definido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o TP é impossível calcular eficiência real (produção esperada vs realizada). Requer cronometragem de campo.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operadores ilegíveis (148 peças)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29,8% da produção atribuída a 'Operador ilegível' — perde-se ranqueamento e responsabilização individual.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440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5440680" cy="91440"/>
          </a:xfrm>
          <a:prstGeom prst="rect">
            <a:avLst/>
          </a:prstGeom>
          <a:solidFill>
            <a:srgbClr val="2E93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destrava as análises na 2ª coleta: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CURTO PRAZO (1-2 sem) 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Preencher MÁQUINA em todos os formulários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Padronizar campo OPERADOR (letra legível)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Anotar tempo de cada parada (col. PARADA)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rgbClr val="1F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MÉDIO PRAZO (3-4 sem) 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Cronometrar 5-8 ciclos das peças 31552 e 30809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Definir tempo-padrão por peça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Atacar causa-raiz de P07 (Almoço)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kern="0" spc="100" dirty="0">
                <a:solidFill>
                  <a:srgbClr val="2E93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LONGO PRAZO (1-3 meses)  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Calcular produtividade Operador × Máquina × Peça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Migrar relatório para Power BI (já preparado)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C48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Treinar equipe no preenchimento padronizado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transformar dados em decisões na fábrica</a:t>
            </a:r>
            <a:r>
              <a:rPr lang="en-US" sz="1800" i="1" dirty="0">
                <a:solidFill>
                  <a:srgbClr val="7DA0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3657600" cy="36576"/>
          </a:xfrm>
          <a:prstGeom prst="rect">
            <a:avLst/>
          </a:prstGeom>
          <a:solidFill>
            <a:srgbClr val="E877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77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PREPARADA POR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Alexandre Souza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1038</Words>
  <Application>Microsoft Office PowerPoint</Application>
  <PresentationFormat>Widescreen</PresentationFormat>
  <Paragraphs>369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Cronoanalise IMPAKTTO</dc:title>
  <dc:subject>PptxGenJS Presentation</dc:subject>
  <dc:creator>Alexandre Souza</dc:creator>
  <cp:lastModifiedBy>Alexandre Souza</cp:lastModifiedBy>
  <cp:revision>2</cp:revision>
  <dcterms:created xsi:type="dcterms:W3CDTF">2026-05-12T13:39:37Z</dcterms:created>
  <dcterms:modified xsi:type="dcterms:W3CDTF">2026-05-12T17:07:00Z</dcterms:modified>
</cp:coreProperties>
</file>